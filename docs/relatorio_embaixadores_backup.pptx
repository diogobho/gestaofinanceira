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4AF37"/>
                </a:solidFill>
              </a:rPr>
              <a:t>CAMPANHA EMBAIXADORES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7455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Relatório Estratégico
5 Milhões de Famílias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D4AF37"/>
                </a:solidFill>
              </a:rPr>
              <a:t>Escola Panterar  |  Análise de Indicações, Conversões e Oportunidades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</a:rPr>
              <a:t>Gerado em 31/05/2026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8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40312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</a:rPr>
              <a:t>VISÃO GERAL DA CAMPANHA</a:t>
            </a:r>
          </a:p>
        </p:txBody>
      </p:sp>
      <p:sp>
        <p:nvSpPr>
          <p:cNvPr id="4" name="Rectangle 3"/>
          <p:cNvSpPr/>
          <p:nvPr/>
        </p:nvSpPr>
        <p:spPr>
          <a:xfrm>
            <a:off x="448056" y="1097280"/>
            <a:ext cx="2651760" cy="2286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9496" y="1234440"/>
            <a:ext cx="246887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1">
                <a:solidFill>
                  <a:srgbClr val="D4AF37"/>
                </a:solidFill>
              </a:rPr>
              <a:t>179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496" y="2651760"/>
            <a:ext cx="24688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Indicações
realizadas</a:t>
            </a:r>
          </a:p>
        </p:txBody>
      </p:sp>
      <p:sp>
        <p:nvSpPr>
          <p:cNvPr id="7" name="Rectangle 6"/>
          <p:cNvSpPr/>
          <p:nvPr/>
        </p:nvSpPr>
        <p:spPr>
          <a:xfrm>
            <a:off x="3328416" y="1097280"/>
            <a:ext cx="2651760" cy="2286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19856" y="1234440"/>
            <a:ext cx="246887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1">
                <a:solidFill>
                  <a:srgbClr val="FFFFFF"/>
                </a:solidFill>
              </a:rP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19856" y="2651760"/>
            <a:ext cx="24688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Embaixadores
ativos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08776" y="1097280"/>
            <a:ext cx="2651760" cy="2286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0216" y="1234440"/>
            <a:ext cx="246887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0216" y="2651760"/>
            <a:ext cx="24688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Vendas
concluídas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89136" y="1097280"/>
            <a:ext cx="2651760" cy="2286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80576" y="1234440"/>
            <a:ext cx="246887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1">
                <a:solidFill>
                  <a:srgbClr val="D4AF37"/>
                </a:solidFill>
              </a:rPr>
              <a:t>2.8%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0576" y="2651760"/>
            <a:ext cx="24688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Taxa de
conversão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611880"/>
            <a:ext cx="4389120" cy="1920240"/>
          </a:xfrm>
          <a:prstGeom prst="rect">
            <a:avLst/>
          </a:prstGeom>
          <a:solidFill>
            <a:srgbClr val="1A2B50"/>
          </a:solidFill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1">
                <a:solidFill>
                  <a:srgbClr val="D4AF37"/>
                </a:solidFill>
              </a:rPr>
              <a:t>Status das indicações (sistema embaixadores)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FFFFFF"/>
                </a:solidFill>
              </a:rPr>
              <a:t>• Em andamento (pendentes): 174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FFFFFF"/>
                </a:solidFill>
              </a:rPr>
              <a:t>• Convertidas (vendas confirmadas): 5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FFFFFF"/>
                </a:solidFill>
              </a:rPr>
              <a:t>• Descartadas: 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3611880"/>
            <a:ext cx="6766560" cy="1920240"/>
          </a:xfrm>
          <a:prstGeom prst="rect">
            <a:avLst/>
          </a:prstGeom>
          <a:solidFill>
            <a:srgbClr val="1A2B50"/>
          </a:solidFill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1">
                <a:solidFill>
                  <a:srgbClr val="F97316"/>
                </a:solidFill>
              </a:rPr>
              <a:t>Top embaixadores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FFFFFF"/>
                </a:solidFill>
              </a:rPr>
              <a:t>• Rayla Costa Lanes Santos — 47 indicações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FFFFFF"/>
                </a:solidFill>
              </a:rPr>
              <a:t>• Bruna De Falco — 44 indicações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FFFFFF"/>
                </a:solidFill>
              </a:rPr>
              <a:t>• Bárbara Ritter — 26 indicações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8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40312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</a:rPr>
              <a:t>FUNIL CRM — DISTRIBUIÇÃO POR ESTÁGIO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18872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</a:rPr>
              <a:t>■  Reunião AGENDADA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46304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</a:rPr>
              <a:t>Apresentação (7 leads)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178308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97316"/>
                </a:solidFill>
              </a:rPr>
              <a:t>■  Reunião JÁ FEITA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205740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</a:rPr>
              <a:t>Objeção (8) + Fechamento (4)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237744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</a:rPr>
              <a:t>■  Vendas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265176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</a:rPr>
              <a:t>5 confirmadas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078992"/>
            <a:ext cx="3017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Campanha  Sucessores da Prosperidade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8960" y="1097280"/>
            <a:ext cx="3414595" cy="347471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14995" y="1078992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97316"/>
                </a:solidFill>
              </a:rPr>
              <a:t>  47 leads  ·  ~17d no funil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1609344"/>
            <a:ext cx="3017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Resposta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08960" y="1627632"/>
            <a:ext cx="5303520" cy="347471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19" y="1609344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</a:rPr>
              <a:t>  73 leads  ·  ~24d no funil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2139696"/>
            <a:ext cx="3017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Apresentação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08960" y="2157984"/>
            <a:ext cx="508556" cy="347471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08956" y="2139696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</a:rPr>
              <a:t>  7 leads  ·  ~15d no funil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2670048"/>
            <a:ext cx="3017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Objeção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08960" y="2688336"/>
            <a:ext cx="581207" cy="347471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81607" y="2670048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97316"/>
                </a:solidFill>
              </a:rPr>
              <a:t>  8 leads  ·  ~19d no funil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3200400"/>
            <a:ext cx="3017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Fechamento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08960" y="3218688"/>
            <a:ext cx="290603" cy="347471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91003" y="3200400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97316"/>
                </a:solidFill>
              </a:rPr>
              <a:t>  4 leads  ·  ~19d no funil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3730752"/>
            <a:ext cx="3017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Ganho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08960" y="3749039"/>
            <a:ext cx="217952" cy="347471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18352" y="3730752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</a:rPr>
              <a:t>  3 leads  ·  ~21d no funil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" y="4261104"/>
            <a:ext cx="3017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Remarketing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108960" y="4279392"/>
            <a:ext cx="1598321" cy="347471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98721" y="4261104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0A5FA"/>
                </a:solidFill>
              </a:rPr>
              <a:t>  22 leads  ·  ~27d no funil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8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40312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</a:rPr>
              <a:t>ANÁLISE QUANTITATIVA — APRESENTAÇÃO · OBJEÇÃO · FECHAMENTO</a:t>
            </a:r>
          </a:p>
        </p:txBody>
      </p:sp>
      <p:sp>
        <p:nvSpPr>
          <p:cNvPr id="4" name="Rectangle 3"/>
          <p:cNvSpPr/>
          <p:nvPr/>
        </p:nvSpPr>
        <p:spPr>
          <a:xfrm>
            <a:off x="699516" y="1051560"/>
            <a:ext cx="3474720" cy="17373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956" y="1143000"/>
            <a:ext cx="32918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956" y="2148840"/>
            <a:ext cx="32918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Apresentação
Reunião AGENDADA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0956" y="2880360"/>
            <a:ext cx="3291839" cy="548640"/>
          </a:xfrm>
          <a:prstGeom prst="rect">
            <a:avLst/>
          </a:prstGeom>
          <a:solidFill>
            <a:srgbClr val="EEEEEE"/>
          </a:solidFill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</a:rPr>
              <a:t>Leads com alto potencial — próximo passo mais importante da campanha</a:t>
            </a:r>
          </a:p>
        </p:txBody>
      </p:sp>
      <p:sp>
        <p:nvSpPr>
          <p:cNvPr id="8" name="Rectangle 7"/>
          <p:cNvSpPr/>
          <p:nvPr/>
        </p:nvSpPr>
        <p:spPr>
          <a:xfrm>
            <a:off x="4357116" y="1051560"/>
            <a:ext cx="3474720" cy="17373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48556" y="1143000"/>
            <a:ext cx="32918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48556" y="2148840"/>
            <a:ext cx="32918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Objeção
Reunião JÁ FEITA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8556" y="2880360"/>
            <a:ext cx="3291839" cy="548640"/>
          </a:xfrm>
          <a:prstGeom prst="rect">
            <a:avLst/>
          </a:prstGeom>
          <a:solidFill>
            <a:srgbClr val="EEEEEE"/>
          </a:solidFill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</a:rPr>
              <a:t>Passaram pela reunião e levantaram objeções concretas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14716" y="1051560"/>
            <a:ext cx="3474720" cy="17373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06156" y="1143000"/>
            <a:ext cx="32918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06156" y="2148840"/>
            <a:ext cx="32918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Fechamento
Reunião JÁ FEITA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06156" y="2880360"/>
            <a:ext cx="3291839" cy="548640"/>
          </a:xfrm>
          <a:prstGeom prst="rect">
            <a:avLst/>
          </a:prstGeom>
          <a:solidFill>
            <a:srgbClr val="EEEEEE"/>
          </a:solidFill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</a:rPr>
              <a:t>Avançaram pós-objeção — em processo de decisão final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520440"/>
            <a:ext cx="3154680" cy="34747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9184" y="356616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D4AF37"/>
                </a:solidFill>
              </a:rPr>
              <a:t>Nome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74720" y="3520440"/>
            <a:ext cx="1965960" cy="34747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3566160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D4AF37"/>
                </a:solidFill>
              </a:rPr>
              <a:t>Estágio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0" y="3520440"/>
            <a:ext cx="1600200" cy="34747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41264" y="356616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D4AF37"/>
                </a:solidFill>
              </a:rPr>
              <a:t>Dias/Msgs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2320" y="3520440"/>
            <a:ext cx="4983480" cy="34747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87183" y="3566160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D4AF37"/>
                </a:solidFill>
              </a:rPr>
              <a:t>Perfil / Nota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913632"/>
            <a:ext cx="315468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395020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</a:rPr>
              <a:t>MARIA ANGEGLORIA DIAS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74720" y="3913632"/>
            <a:ext cx="196596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20439" y="395020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0B981"/>
                </a:solidFill>
              </a:rPr>
              <a:t>Apresentação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0" y="3913632"/>
            <a:ext cx="160020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32120" y="395020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</a:rPr>
              <a:t>32d  ·  10msg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32320" y="3913632"/>
            <a:ext cx="498348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78040" y="395020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</a:rPr>
              <a:t>Instagram: @MARIAANGEGLORIADIAS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97680"/>
            <a:ext cx="315468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0040" y="433425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</a:rPr>
              <a:t>Perséfone Alves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474720" y="4297680"/>
            <a:ext cx="196596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520439" y="4334256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0B981"/>
                </a:solidFill>
              </a:rPr>
              <a:t>Apresentação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0" y="4297680"/>
            <a:ext cx="160020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532120" y="4334256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</a:rPr>
              <a:t>20d  ·  40msg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132320" y="4297680"/>
            <a:ext cx="498348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78040" y="4334256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</a:rPr>
              <a:t>Bruna De Falco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4681728"/>
            <a:ext cx="315468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0040" y="471830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</a:rPr>
              <a:t>Neuza Odete Barbosa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474720" y="4681728"/>
            <a:ext cx="196596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520439" y="4718304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0B981"/>
                </a:solidFill>
              </a:rPr>
              <a:t>Apresentação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0" y="4681728"/>
            <a:ext cx="160020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532120" y="471830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</a:rPr>
              <a:t>13d  ·  68msg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132320" y="4681728"/>
            <a:ext cx="498348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178040" y="4718304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</a:rPr>
              <a:t>LIVIA CARVALHO SILVA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5065776"/>
            <a:ext cx="315468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0040" y="510235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</a:rPr>
              <a:t>Sofia Rodrigues (de Portugal)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474720" y="5065776"/>
            <a:ext cx="196596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520439" y="510235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0B981"/>
                </a:solidFill>
              </a:rPr>
              <a:t>Apresentação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86400" y="5065776"/>
            <a:ext cx="160020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532120" y="510235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</a:rPr>
              <a:t>13d  ·  4msg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132320" y="5065776"/>
            <a:ext cx="498348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178040" y="510235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</a:rPr>
              <a:t>Instagram: @carlasofia.terapias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4320" y="5449824"/>
            <a:ext cx="315468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20040" y="54864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</a:rPr>
              <a:t>Dhebora cakes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474720" y="5449824"/>
            <a:ext cx="196596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520439" y="54864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0B981"/>
                </a:solidFill>
              </a:rPr>
              <a:t>Apresentação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486400" y="5449824"/>
            <a:ext cx="160020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532120" y="54864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</a:rPr>
              <a:t>10d  ·  43msg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132320" y="5449824"/>
            <a:ext cx="498348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178040" y="54864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</a:rPr>
              <a:t>Instagram: @Dheboracakes_confeitaria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74320" y="5833872"/>
            <a:ext cx="315468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20040" y="587044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</a:rPr>
              <a:t>Vivian Verginio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474720" y="5833872"/>
            <a:ext cx="196596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520439" y="587044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0B981"/>
                </a:solidFill>
              </a:rPr>
              <a:t>Apresentação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486400" y="5833872"/>
            <a:ext cx="160020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532120" y="587044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</a:rPr>
              <a:t>8d  ·  22msg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132320" y="5833872"/>
            <a:ext cx="498348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178040" y="587044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</a:rPr>
              <a:t>Bruna De Falco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74320" y="6217920"/>
            <a:ext cx="315468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20040" y="625449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</a:rPr>
              <a:t>Naiana Marcondes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474720" y="6217920"/>
            <a:ext cx="196596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520439" y="6254496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0B981"/>
                </a:solidFill>
              </a:rPr>
              <a:t>Apresentação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486400" y="6217920"/>
            <a:ext cx="160020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532120" y="6254496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</a:rPr>
              <a:t>8d  ·  20msg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132320" y="6217920"/>
            <a:ext cx="498348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178040" y="6254496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</a:rPr>
              <a:t>Bruna De Falco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74320" y="6601968"/>
            <a:ext cx="315468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20040" y="663854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</a:rPr>
              <a:t>Muriel Hoffman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474720" y="6601968"/>
            <a:ext cx="196596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520439" y="6638544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97316"/>
                </a:solidFill>
              </a:rPr>
              <a:t>Objeção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486400" y="6601968"/>
            <a:ext cx="160020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532120" y="663854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</a:rPr>
              <a:t>32d  ·  6msg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132320" y="6601968"/>
            <a:ext cx="498348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178040" y="6638544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</a:rPr>
              <a:t>Rayla Costa Lanes Santos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74320" y="6986016"/>
            <a:ext cx="315468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20040" y="702259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</a:rPr>
              <a:t>Arthur Buschin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474720" y="6986016"/>
            <a:ext cx="196596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520439" y="702259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97316"/>
                </a:solidFill>
              </a:rPr>
              <a:t>Objeção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486400" y="6986016"/>
            <a:ext cx="160020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532120" y="702259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</a:rPr>
              <a:t>30d  ·  143msg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132320" y="6986016"/>
            <a:ext cx="498348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178040" y="702259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</a:rPr>
              <a:t>Alcione Ribeiro</a:t>
            </a:r>
          </a:p>
        </p:txBody>
      </p:sp>
      <p:sp>
        <p:nvSpPr>
          <p:cNvPr id="96" name="Rectangle 95"/>
          <p:cNvSpPr/>
          <p:nvPr/>
        </p:nvSpPr>
        <p:spPr>
          <a:xfrm>
            <a:off x="274320" y="7370064"/>
            <a:ext cx="315468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20040" y="74066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</a:rPr>
              <a:t>Gisele Biguetti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474720" y="7370064"/>
            <a:ext cx="196596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3520439" y="74066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97316"/>
                </a:solidFill>
              </a:rPr>
              <a:t>Objeção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5486400" y="7370064"/>
            <a:ext cx="160020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5532120" y="74066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</a:rPr>
              <a:t>25d  ·  96msg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132320" y="7370064"/>
            <a:ext cx="498348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178040" y="740664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</a:rPr>
              <a:t>Instagram: @marmitadagih_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274320" y="7754112"/>
            <a:ext cx="315468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320040" y="779068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</a:rPr>
              <a:t>Rose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3474720" y="7754112"/>
            <a:ext cx="196596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3520439" y="779068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97316"/>
                </a:solidFill>
              </a:rPr>
              <a:t>Objeção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5486400" y="7754112"/>
            <a:ext cx="160020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5532120" y="779068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</a:rPr>
              <a:t>18d  ·  81msg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132320" y="7754112"/>
            <a:ext cx="498348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178040" y="779068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</a:rPr>
              <a:t>Flaviane Sìlva Oliveira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274320" y="8138160"/>
            <a:ext cx="315468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320040" y="817473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</a:rPr>
              <a:t>Deise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3474720" y="8138160"/>
            <a:ext cx="196596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3520439" y="8174736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97316"/>
                </a:solidFill>
              </a:rPr>
              <a:t>Objeção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5486400" y="8138160"/>
            <a:ext cx="160020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5532120" y="8174736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</a:rPr>
              <a:t>13d  ·  7msg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7132320" y="8138160"/>
            <a:ext cx="498348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7178040" y="8174736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</a:rPr>
              <a:t>LIVIA CARVALHO SILVA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274320" y="8522208"/>
            <a:ext cx="315468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20040" y="855878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</a:rPr>
              <a:t>Juliana Pereira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3474720" y="8522208"/>
            <a:ext cx="196596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3520439" y="8558784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97316"/>
                </a:solidFill>
              </a:rPr>
              <a:t>Objeção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5486400" y="8522208"/>
            <a:ext cx="160020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5532120" y="855878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</a:rPr>
              <a:t>13d  ·  7msg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7132320" y="8522208"/>
            <a:ext cx="498348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7178040" y="8558784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</a:rPr>
              <a:t>Instagram: @julianapereira_terapeuta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274320" y="8906256"/>
            <a:ext cx="315468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320040" y="894283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</a:rPr>
              <a:t>Jocilaine Fagundes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3474720" y="8906256"/>
            <a:ext cx="196596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3520439" y="894283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97316"/>
                </a:solidFill>
              </a:rPr>
              <a:t>Objeção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5486400" y="8906256"/>
            <a:ext cx="160020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5532120" y="894283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</a:rPr>
              <a:t>12d  ·  87msg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7132320" y="8906256"/>
            <a:ext cx="498348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7178040" y="894283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</a:rPr>
              <a:t>Instagram: @jocilainefg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274320" y="9290304"/>
            <a:ext cx="315468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320040" y="93268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</a:rPr>
              <a:t>Vanessa Oliveira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3474720" y="9290304"/>
            <a:ext cx="196596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3520439" y="932688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97316"/>
                </a:solidFill>
              </a:rPr>
              <a:t>Objeção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5486400" y="9290304"/>
            <a:ext cx="160020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5532120" y="93268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</a:rPr>
              <a:t>11d  ·  44msg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7132320" y="9290304"/>
            <a:ext cx="498348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7178040" y="93268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</a:rPr>
              <a:t>Instagram: @vanessa_oliber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274320" y="9674352"/>
            <a:ext cx="315468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320040" y="971092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</a:rPr>
              <a:t>Daiane Tacca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3474720" y="9674352"/>
            <a:ext cx="196596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3520439" y="971092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D4AF37"/>
                </a:solidFill>
              </a:rPr>
              <a:t>Fechamento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5486400" y="9674352"/>
            <a:ext cx="160020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5532120" y="97109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</a:rPr>
              <a:t>32d  ·  7msg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7132320" y="9674352"/>
            <a:ext cx="498348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7178040" y="971092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</a:rPr>
              <a:t>Rayla Costa Lanes Santos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274320" y="10058400"/>
            <a:ext cx="315468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320040" y="1009497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</a:rPr>
              <a:t>Juliano Fernandez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3474720" y="10058400"/>
            <a:ext cx="196596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3520439" y="10094976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D4AF37"/>
                </a:solidFill>
              </a:rPr>
              <a:t>Fechamento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5486400" y="10058400"/>
            <a:ext cx="160020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5532120" y="10094976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</a:rPr>
              <a:t>18d  ·  67msg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7132320" y="10058400"/>
            <a:ext cx="498348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7178040" y="10094976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</a:rPr>
              <a:t>Bruna De Falco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274320" y="10442448"/>
            <a:ext cx="315468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320040" y="1047902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</a:rPr>
              <a:t>Rita Beatriz Câmara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3474720" y="10442448"/>
            <a:ext cx="196596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3520439" y="10479024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D4AF37"/>
                </a:solidFill>
              </a:rPr>
              <a:t>Fechamento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5486400" y="10442448"/>
            <a:ext cx="160020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5532120" y="1047902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</a:rPr>
              <a:t>13d  ·  38msg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7132320" y="10442448"/>
            <a:ext cx="498348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7178040" y="10479024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</a:rPr>
              <a:t>Instagram: @ritabeatrizcamara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274320" y="10826496"/>
            <a:ext cx="315468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320040" y="1086307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</a:rPr>
              <a:t>Carla Medeiros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3474720" y="10826496"/>
            <a:ext cx="196596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3520439" y="1086307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D4AF37"/>
                </a:solidFill>
              </a:rPr>
              <a:t>Fechamento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5486400" y="10826496"/>
            <a:ext cx="160020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5532120" y="1086307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</a:rPr>
              <a:t>11d  ·  55msg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7132320" y="10826496"/>
            <a:ext cx="4983480" cy="3383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7178040" y="1086307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</a:rPr>
              <a:t>Rosana de Souza  Freitas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8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40312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</a:rPr>
              <a:t>POR QUE A CONVERSÃO ESTÁ BAIXA? (2.7%)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4AF37"/>
                </a:solidFill>
              </a:rPr>
              <a:t>FUNIL DE CONVERSÃO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1722120" y="1508760"/>
            <a:ext cx="579120" cy="594360"/>
          </a:xfrm>
          <a:prstGeom prst="rect">
            <a:avLst/>
          </a:prstGeom>
          <a:solidFill>
            <a:srgbClr val="1A2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544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181 indicações geradas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55448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</a:rPr>
              <a:t>100%</a:t>
            </a:r>
          </a:p>
        </p:txBody>
      </p:sp>
      <p:sp>
        <p:nvSpPr>
          <p:cNvPr id="8" name="Rectangle 7"/>
          <p:cNvSpPr/>
          <p:nvPr/>
        </p:nvSpPr>
        <p:spPr>
          <a:xfrm>
            <a:off x="1502054" y="2194560"/>
            <a:ext cx="1019251" cy="594360"/>
          </a:xfrm>
          <a:prstGeom prst="rect">
            <a:avLst/>
          </a:prstGeom>
          <a:solidFill>
            <a:srgbClr val="1A2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2240279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171 leads criados no CRM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240279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</a:rPr>
              <a:t>94%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51483" y="2880360"/>
            <a:ext cx="1320393" cy="594360"/>
          </a:xfrm>
          <a:prstGeom prst="rect">
            <a:avLst/>
          </a:prstGeom>
          <a:solidFill>
            <a:srgbClr val="1A2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2926079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~120 leads abordados (Resposta+)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926079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D4AF37"/>
                </a:solidFill>
              </a:rPr>
              <a:t>66%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70406" y="3566160"/>
            <a:ext cx="1482547" cy="594360"/>
          </a:xfrm>
          <a:prstGeom prst="rect">
            <a:avLst/>
          </a:prstGeom>
          <a:solidFill>
            <a:srgbClr val="1A2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3611879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26 chegaram à Apresentação+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611879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F97316"/>
                </a:solidFill>
              </a:rPr>
              <a:t>14%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58824" y="4251960"/>
            <a:ext cx="1505712" cy="594360"/>
          </a:xfrm>
          <a:prstGeom prst="rect">
            <a:avLst/>
          </a:prstGeom>
          <a:solidFill>
            <a:srgbClr val="1A2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42976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12 tiveram reunião (Obj. + Fech.)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429768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EF4444"/>
                </a:solidFill>
              </a:rPr>
              <a:t>7%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16736" y="4937760"/>
            <a:ext cx="1389887" cy="594360"/>
          </a:xfrm>
          <a:prstGeom prst="rect">
            <a:avLst/>
          </a:prstGeom>
          <a:solidFill>
            <a:srgbClr val="1A2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49834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5 vendas fechadas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498348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10B981"/>
                </a:solidFill>
              </a:rPr>
              <a:t>2.7%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100584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4AF37"/>
                </a:solidFill>
              </a:rPr>
              <a:t>CAUSAS IDENTIFICADAS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1508760"/>
            <a:ext cx="7589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F4444"/>
                </a:solidFill>
              </a:rPr>
              <a:t>[CRÍTICO]  Gargalo em Resposta: 73 leads (43% da base) nunca chegaram à Apresentação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1792224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</a:rPr>
              <a:t>A equipe fez contato, lead respondeu, mas a conversa virou nurturing passivo. Conteúdo gratuito (lives, links YouTube) foi enviado sem convite direto para reunião.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2194560"/>
            <a:ext cx="7589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97316"/>
                </a:solidFill>
              </a:rPr>
              <a:t>[ALTO]  45 leads na entrada sem abordagem efetiva (26% da base)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2478024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</a:rPr>
              <a:t>Um quarto da base ainda está no estágio inicial sem contato qualificado. São leads com média de 17 dias no funil sem avanço.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2880360"/>
            <a:ext cx="7589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</a:rPr>
              <a:t>[MÉDIO]  22 leads em Remarketing (13%) — oportunidades perdidas prematuramente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3163824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</a:rPr>
              <a:t>Leads que foram tratados mas enviados a remarketing antes de chegar à reunião. Isso sugere desistência precoce da equipe de vendas.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0" y="3566160"/>
            <a:ext cx="7589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97316"/>
                </a:solidFill>
              </a:rPr>
              <a:t>[ALTO]  Sem SLA por estágio — leads envelhecem sem ação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0" y="3849624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</a:rPr>
              <a:t>Leads em Resposta têm em média 24 dias no funil. Sem prazo definido para cada etapa, os leads são esquecidos naturalmente.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4251960"/>
            <a:ext cx="7589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</a:rPr>
              <a:t>[MÉDIO]  Embaixadores não preparam o lead antes do contato da equipe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120" y="4535424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</a:rPr>
              <a:t>A maioria dos indicados chegou ao WhatsApp sem saber o que é a escola. O cold contact reduz drasticamente a taxa de avanço para apresentação.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" y="5943600"/>
            <a:ext cx="11640312" cy="685800"/>
          </a:xfrm>
          <a:prstGeom prst="rect">
            <a:avLst/>
          </a:prstGeom>
          <a:solidFill>
            <a:srgbClr val="1A2B50"/>
          </a:solidFill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Diagnóstico:  A conversão de 2.7% não reflete falta de qualidade dos leads — reflete gargalo de processo. 73% da base ficou presa nos dois primeiros estágios sem chegar à apresentação formal. O problema central é a ausência de urgência e protocolo claro para avançar o lead.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8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40312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</a:rPr>
              <a:t>QUALIFICAÇÃO DOS INDICADOS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5577840" cy="28346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1">
                <a:solidFill>
                  <a:srgbClr val="D4AF37"/>
                </a:solidFill>
              </a:rPr>
              <a:t>Perfis predominantes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FFFFFF"/>
                </a:solidFill>
              </a:rPr>
              <a:t>• Profissionais de saúde e terapias — terapeutas holísticos, consteladores, psicólogos, biomédicos, nutricionistas (perfil majoritário: ~40%)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FFFFFF"/>
                </a:solidFill>
              </a:rPr>
              <a:t>• Profissionais do setor de beleza e bem-estar — esteticistas, manicures, cabeleireiras, bailarinas (em busca de estrutura de negócio)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FFFFFF"/>
                </a:solidFill>
              </a:rPr>
              <a:t>• Empreendedoras em transição CLT → negócio próprio — alta motivação, necessitam de método e coragem para sair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FFFFFF"/>
                </a:solidFill>
              </a:rPr>
              <a:t>• Profissionais liberais querendo digitalizar — dentistas, advogadas, corretoras, designers de interiores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FFFFFF"/>
                </a:solidFill>
              </a:rPr>
              <a:t>• Negócios físicos em início — confeitaria, marmitas, decoração, roupas (precisam de estrutura comercial urgente)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005840"/>
            <a:ext cx="5577840" cy="2834640"/>
          </a:xfrm>
          <a:prstGeom prst="rect">
            <a:avLst/>
          </a:prstGeom>
          <a:solidFill>
            <a:srgbClr val="1A2B50"/>
          </a:solidFill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1">
                <a:solidFill>
                  <a:srgbClr val="F97316"/>
                </a:solidFill>
              </a:rPr>
              <a:t>Momentos de vida identificados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FFFFFF"/>
                </a:solidFill>
              </a:rPr>
              <a:t>• Presa no CLT: salário estável 'segura' a decisão de empreender — maior grupo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FFFFFF"/>
                </a:solidFill>
              </a:rPr>
              <a:t>• Já empreende sem estrutura: atende clientes mas sem método, sem previsibilidade de caixa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FFFFFF"/>
                </a:solidFill>
              </a:rPr>
              <a:t>• Mãe empreendedora: acumula papéis, tem potencial mas pouco tempo para investir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FFFFFF"/>
                </a:solidFill>
              </a:rPr>
              <a:t>• Profissional liberal querendo ir para o digital: boa expertise técnica, fraca presença online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FFFFFF"/>
                </a:solidFill>
              </a:rPr>
              <a:t>• Início de negócio (&lt; 2 anos): insegurança financeira, alta abertura a aprendizado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977639"/>
            <a:ext cx="11457432" cy="868680"/>
          </a:xfrm>
          <a:prstGeom prst="rect">
            <a:avLst/>
          </a:prstGeom>
          <a:solidFill>
            <a:srgbClr val="E8F5E9"/>
          </a:solidFill>
          <a:ln w="12700">
            <a:solidFill>
              <a:srgbClr val="10B98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Qualidade geral:  A base tem qualidade acima da média: embaixadores conhecem pessoalmente quem indicaram e trouxeram contexto real sobre o momento de vida de cada um. O principal gap de conversão não é qualificação dos leads — é timing, urgência e protocolo de abordagem.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937760"/>
            <a:ext cx="11457432" cy="169164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F97316"/>
                </a:solidFill>
              </a:rPr>
              <a:t>Leads mais quentes — oportunidade imediata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444444"/>
                </a:solidFill>
              </a:rPr>
              <a:t>• Alessandra Calai — terapeuta deixando CLT para focar em terapias; 'disposta a ver apresentação' (Campanha)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444444"/>
                </a:solidFill>
              </a:rPr>
              <a:t>• Kathleen Gonçalves — agência de marketing há 3 anos, 10 clientes, quer crescer emocionalmente (Resposta)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444444"/>
                </a:solidFill>
              </a:rPr>
              <a:t>• Jeniffer Casagrande — empreendedora há 6 anos, lidera grupo de mulheres empreendedoras (Resposta)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444444"/>
                </a:solidFill>
              </a:rPr>
              <a:t>• Dhebora Cakes — em Apresentação, 43 mensagens trocadas, reunião agendada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444444"/>
                </a:solidFill>
              </a:rPr>
              <a:t>• Neuza Odete Barbosa — em Apresentação, 68 mensagens, alto engajamento, reunião agendada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8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40312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</a:rPr>
              <a:t>OBJEÇÕES IDENTIFICADAS NAS REUNIÕES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60120"/>
            <a:ext cx="11640312" cy="548640"/>
          </a:xfrm>
          <a:prstGeom prst="rect">
            <a:avLst/>
          </a:prstGeom>
          <a:solidFill>
            <a:srgbClr val="1A2B50"/>
          </a:solidFill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4AF37"/>
                </a:solidFill>
              </a:rPr>
              <a:t>Todos os 8 leads em Objeção e os 4 em Fechamento passaram por reunião com a equipe. Os 7 em Apresentação têm reunião agendada. As objeções abaixo foram identificadas nas conversas e reuniões.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691640"/>
            <a:ext cx="5760720" cy="347472"/>
          </a:xfrm>
          <a:prstGeom prst="rect">
            <a:avLst/>
          </a:prstGeom>
          <a:solidFill>
            <a:srgbClr val="1A2B50"/>
          </a:solidFill>
          <a:ln w="12700">
            <a:solidFill>
              <a:srgbClr val="EF4444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F4444"/>
                </a:solidFill>
              </a:rPr>
              <a:t>[ALTA]  Imprevisto financeiro (ex.: cônjuge perdeu emprego)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057400"/>
            <a:ext cx="5760720" cy="502920"/>
          </a:xfrm>
          <a:prstGeom prst="rect">
            <a:avLst/>
          </a:prstGeom>
          <a:solidFill>
            <a:srgbClr val="1A2B50"/>
          </a:solidFill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</a:rPr>
              <a:t>Exemplo: "Gisele Biguetti: 'Meu noivo perdeu o emprego. Quando estabilizarmos, entro.'"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578608"/>
            <a:ext cx="5760720" cy="594360"/>
          </a:xfrm>
          <a:prstGeom prst="rect">
            <a:avLst/>
          </a:prstGeom>
          <a:solidFill>
            <a:srgbClr val="1A2B50"/>
          </a:solidFill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Como contornar: Validar, criar plano de retomada em 30-45 dias. Manter nutrição leve via conteúdo gratuito.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691640"/>
            <a:ext cx="5760720" cy="347472"/>
          </a:xfrm>
          <a:prstGeom prst="rect">
            <a:avLst/>
          </a:prstGeom>
          <a:solidFill>
            <a:srgbClr val="1A2B50"/>
          </a:solidFill>
          <a:ln w="12700">
            <a:solidFill>
              <a:srgbClr val="F97316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97316"/>
                </a:solidFill>
              </a:rPr>
              <a:t>[MÉDIA]  Saturação de cursos em andamento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2057400"/>
            <a:ext cx="5760720" cy="502920"/>
          </a:xfrm>
          <a:prstGeom prst="rect">
            <a:avLst/>
          </a:prstGeom>
          <a:solidFill>
            <a:srgbClr val="1A2B50"/>
          </a:solidFill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</a:rPr>
              <a:t>Exemplo: "Arthur Buschin: 'Não devo fechar nada agora, tenho 4 cursos em andamento.'"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2578608"/>
            <a:ext cx="5760720" cy="594360"/>
          </a:xfrm>
          <a:prstGeom prst="rect">
            <a:avLst/>
          </a:prstGeom>
          <a:solidFill>
            <a:srgbClr val="1A2B50"/>
          </a:solidFill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Como contornar: Reposicionar como comunidade + mentoria contínua, não mais um curso. Diferencial: aplicação prática e rede.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77639"/>
            <a:ext cx="5760720" cy="347472"/>
          </a:xfrm>
          <a:prstGeom prst="rect">
            <a:avLst/>
          </a:prstGeom>
          <a:solidFill>
            <a:srgbClr val="1A2B50"/>
          </a:solidFill>
          <a:ln w="12700">
            <a:solidFill>
              <a:srgbClr val="F97316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97316"/>
                </a:solidFill>
              </a:rPr>
              <a:t>[MÉDIA]  Dúvida de fit — 'o conteúdo vai bater com meu nível?'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4343400"/>
            <a:ext cx="5760720" cy="502920"/>
          </a:xfrm>
          <a:prstGeom prst="rect">
            <a:avLst/>
          </a:prstGeom>
          <a:solidFill>
            <a:srgbClr val="1A2B50"/>
          </a:solidFill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</a:rPr>
              <a:t>Exemplo: "Arthur: 'O foco da Escola parece ser para público mais iniciante / feminino.'"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4864607"/>
            <a:ext cx="5760720" cy="594360"/>
          </a:xfrm>
          <a:prstGeom prst="rect">
            <a:avLst/>
          </a:prstGeom>
          <a:solidFill>
            <a:srgbClr val="1A2B50"/>
          </a:solidFill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Como contornar: Mostrar casos de alunos no mesmo nível. Oferecer reunião com a Sá para o lead perceber o fit pessoalmente.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3977639"/>
            <a:ext cx="5760720" cy="347472"/>
          </a:xfrm>
          <a:prstGeom prst="rect">
            <a:avLst/>
          </a:prstGeom>
          <a:solidFill>
            <a:srgbClr val="1A2B50"/>
          </a:solidFill>
          <a:ln w="12700">
            <a:solidFill>
              <a:srgbClr val="EF4444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F4444"/>
                </a:solidFill>
              </a:rPr>
              <a:t>[ALTA]  Ghosting após engajamento inicial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4343400"/>
            <a:ext cx="5760720" cy="502920"/>
          </a:xfrm>
          <a:prstGeom prst="rect">
            <a:avLst/>
          </a:prstGeom>
          <a:solidFill>
            <a:srgbClr val="1A2B50"/>
          </a:solidFill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</a:rPr>
              <a:t>Exemplo: "Muriel Hoffman: respondeu nas primeiras mensagens, depois parou de responder."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4864607"/>
            <a:ext cx="5760720" cy="594360"/>
          </a:xfrm>
          <a:prstGeom prst="rect">
            <a:avLst/>
          </a:prstGeom>
          <a:solidFill>
            <a:srgbClr val="1A2B50"/>
          </a:solidFill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Como contornar: Re-abordagem via embaixador (relação pessoal). Ângulo diferente após 7 dias de silêncio.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08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6400800"/>
            <a:ext cx="116403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0B981"/>
                </a:solidFill>
              </a:rPr>
              <a:t>★  Taxa pós-reunião: 5 vendas entre 12 reuniões realizadas = 41.7% de conversão reunião → venda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8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40312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</a:rPr>
              <a:t>SOLUÇÕES PARA AUMENTAR CONVERSÃO EM JUNHO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60120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Plano de ação por frente — ordenado por prioridade e potencial de conversão imediata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960119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453896"/>
            <a:ext cx="32004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0B981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53896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</a:rPr>
              <a:t>Fechar os 7 de Apresentação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37944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Reuniões já agendadas — protocolo pós-reunião com follow-up em 24h e oferta com prazo definido até 07/06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145389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4AF37"/>
                </a:solidFill>
              </a:rPr>
              <a:t>Prazo: Esta semana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1837944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0B981"/>
                </a:solidFill>
              </a:rPr>
              <a:t>7 leads → meta: 3 vendas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468880"/>
            <a:ext cx="11640312" cy="960119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2505456"/>
            <a:ext cx="32004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97316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505456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97316"/>
                </a:solidFill>
              </a:rPr>
              <a:t>Recuperar os 12 de Objeção + Fechamento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889504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Ativar embaixador para re-aquecimento pessoal + oferta especial de junho (bônus de entrada, parcelamento diferenciado)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250545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4AF37"/>
                </a:solidFill>
              </a:rPr>
              <a:t>Prazo: Semana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889504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0B981"/>
                </a:solidFill>
              </a:rPr>
              <a:t>12 leads → meta: 2-3 vendas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520439"/>
            <a:ext cx="11640312" cy="960119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3557015"/>
            <a:ext cx="32004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D4AF37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557015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4AF37"/>
                </a:solidFill>
              </a:rPr>
              <a:t>Desbloquear os 73 de Resposta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941063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Evento exclusivo para indicados da campanha (online ou presencial). Criar urgência real com data limite. Para leads com &gt; 20 mensagens: enviar vídeo da apresentação + pedir decisão direta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3557015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4AF37"/>
                </a:solidFill>
              </a:rPr>
              <a:t>Prazo: Semana 1-2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3941063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0B981"/>
                </a:solidFill>
              </a:rPr>
              <a:t>73 leads → meta: 5-8 apresentações novas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572000"/>
            <a:ext cx="11640312" cy="960119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4608576"/>
            <a:ext cx="32004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60A5FA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608576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0A5FA"/>
                </a:solidFill>
              </a:rPr>
              <a:t>Ativar os 45 da entrada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992624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Protocolo de abordagem em 48h com segmentação por perfil (terapeutas, beleza, CLT). Usar o nome do embaixador como abertura — leads frios respondem mais ao contexto pessoal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460857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4AF37"/>
                </a:solidFill>
              </a:rPr>
              <a:t>Prazo: Semana 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4992624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0B981"/>
                </a:solidFill>
              </a:rPr>
              <a:t>45 leads → meta: 10 chegarem à Resposta, 3 à Apresentação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5623559"/>
            <a:ext cx="11640312" cy="960119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" y="5660136"/>
            <a:ext cx="32004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60A5FA"/>
                </a:solidFill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660136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0A5FA"/>
                </a:solidFill>
              </a:rPr>
              <a:t>Re-tentar Remarketing (22 leads)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6044183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Re-abordagem com ângulo completamente diferente: depoimento de aluno do mesmo perfil + oferta relâmpago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566013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4AF37"/>
                </a:solidFill>
              </a:rPr>
              <a:t>Prazo: Semana 2-3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6044183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0B981"/>
                </a:solidFill>
              </a:rPr>
              <a:t>22 leads → meta: 2 apresentações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8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40312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</a:rPr>
              <a:t>MELHORIAS PARA A PRÓXIMA CAMPANHA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51560"/>
            <a:ext cx="5760720" cy="1307592"/>
          </a:xfrm>
          <a:prstGeom prst="rect">
            <a:avLst/>
          </a:prstGeom>
          <a:solidFill>
            <a:srgbClr val="1A2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1106424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</a:rPr>
              <a:t>Treinamento dos embaixadores ANTES do lançamento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1472184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</a:rPr>
              <a:t>65% dos leads chegaram ao WhatsApp sem saber o que era a escola. O embaixador precisa pré-aquecer o lead antes da equipe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1801367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→ Workshop de 1h com os embaixadores: como apresentar a escola, o que dizer, quando avisar que a equipe vai entrar em contato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051560"/>
            <a:ext cx="5760720" cy="1307592"/>
          </a:xfrm>
          <a:prstGeom prst="rect">
            <a:avLst/>
          </a:prstGeom>
          <a:solidFill>
            <a:srgbClr val="1A2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36792" y="1106424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</a:rPr>
              <a:t>Critério mínimo de qualificação antes da indicação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36792" y="1472184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</a:rPr>
              <a:t>Indicações vagas ('ela é minha amiga') chegam no CRM sem contexto suficiente para abordagem eficaz.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36792" y="1801367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→ Formulário de indicação com 3 perguntas obrigatórias: Tem negócio ativo? Qual o maior desafio? Está aberta a crescer?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468880"/>
            <a:ext cx="5760720" cy="1307592"/>
          </a:xfrm>
          <a:prstGeom prst="rect">
            <a:avLst/>
          </a:prstGeom>
          <a:solidFill>
            <a:srgbClr val="1A2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" y="2523744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</a:rPr>
              <a:t>SLA por estágio com alerta automático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" y="2889504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</a:rPr>
              <a:t>Leads ficaram em média 24 dias em Resposta sem ação. Sem prazo, nada acontece.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" y="3218688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→ Campanha → Resposta: 48h | Resposta → Apresentação: 7 dias | Apresentação → Decisão: 3 dias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2468880"/>
            <a:ext cx="5760720" cy="1307592"/>
          </a:xfrm>
          <a:prstGeom prst="rect">
            <a:avLst/>
          </a:prstGeom>
          <a:solidFill>
            <a:srgbClr val="1A2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36792" y="2523744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</a:rPr>
              <a:t>Materiais segmentados por nicho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6792" y="2889504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</a:rPr>
              <a:t>A abordagem atual é genérica. Terapeutas respondem diferente de quem está no CLT.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6792" y="3218688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→ 3 fluxos distintos: (1) Terapeutas/saúde, (2) Beleza/bem-estar, (3) CLT em transição — cada um com caso de sucesso do nicho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886200"/>
            <a:ext cx="5760720" cy="1307592"/>
          </a:xfrm>
          <a:prstGeom prst="rect">
            <a:avLst/>
          </a:prstGeom>
          <a:solidFill>
            <a:srgbClr val="1A2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" y="3941063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</a:rPr>
              <a:t>Evento exclusivo de apresentação para indicados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" y="4306824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</a:rPr>
              <a:t>Apresentação individual tem alto custo de tempo. Em grupo, a dinâmica social amplifica o interesse.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" y="4636008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→ Webinar quinzenal exclusivo para indicados da campanha, com a Sá apresentando e Q&amp;A ao vivo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3886200"/>
            <a:ext cx="5760720" cy="1307592"/>
          </a:xfrm>
          <a:prstGeom prst="rect">
            <a:avLst/>
          </a:prstGeom>
          <a:solidFill>
            <a:srgbClr val="1A2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36792" y="3941063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</a:rPr>
              <a:t>Embaixador como 'parceiro de vendas' — recebe status do lead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36792" y="4306824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</a:rPr>
              <a:t>O embaixador pode desbloquear objeções que a equipe não consegue — tem relação pessoal.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36792" y="4636008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→ Notificação automática quando lead estagna em Resposta &gt; 10 dias: embaixador recebe alerta e texto pronto para reativar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8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40312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</a:rPr>
              <a:t>RANKING DE EMBAIXADORES  ·  CONCLUSÃO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329184" cy="34747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10896" y="1051560"/>
            <a:ext cx="292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D1B3E"/>
                </a:solidFill>
              </a:rPr>
              <a:t>#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005840"/>
            <a:ext cx="3803904" cy="34747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051560"/>
            <a:ext cx="37673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D1B3E"/>
                </a:solidFill>
              </a:rPr>
              <a:t>Embaixador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1005840"/>
            <a:ext cx="603503" cy="34747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17136" y="1051560"/>
            <a:ext cx="566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D1B3E"/>
                </a:solidFill>
              </a:rPr>
              <a:t>Ind.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0" y="1005840"/>
            <a:ext cx="649224" cy="34747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57216" y="1051560"/>
            <a:ext cx="612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D1B3E"/>
                </a:solidFill>
              </a:rPr>
              <a:t>Conv.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06440" y="1005840"/>
            <a:ext cx="512063" cy="34747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43016" y="1051560"/>
            <a:ext cx="4754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D1B3E"/>
                </a:solidFill>
              </a:rPr>
              <a:t>Pts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389888"/>
            <a:ext cx="329184" cy="457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0896" y="1444752"/>
            <a:ext cx="292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4AF37"/>
                </a:solidFill>
              </a:rPr>
              <a:t>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1389888"/>
            <a:ext cx="3803904" cy="457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" y="1444752"/>
            <a:ext cx="37673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</a:rPr>
              <a:t>Rayla Costa Lanes Santos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80560" y="1389888"/>
            <a:ext cx="603503" cy="457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17136" y="1444752"/>
            <a:ext cx="5669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</a:rPr>
              <a:t>47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20640" y="1389888"/>
            <a:ext cx="649224" cy="457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57216" y="1444752"/>
            <a:ext cx="6126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</a:rPr>
              <a:t>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06440" y="1389888"/>
            <a:ext cx="512063" cy="457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43016" y="1444752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</a:rPr>
              <a:t>57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1892808"/>
            <a:ext cx="329184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0896" y="1947672"/>
            <a:ext cx="292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0C0C0"/>
                </a:solidFill>
              </a:rPr>
              <a:t>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1892808"/>
            <a:ext cx="3803904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1947672"/>
            <a:ext cx="37673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</a:rPr>
              <a:t>Bruna De Falco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0" y="1892808"/>
            <a:ext cx="603503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17136" y="1947672"/>
            <a:ext cx="5669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</a:rPr>
              <a:t>44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120640" y="1892808"/>
            <a:ext cx="649224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57216" y="1947672"/>
            <a:ext cx="6126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</a:rPr>
              <a:t>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806440" y="1892808"/>
            <a:ext cx="512063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43016" y="1947672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</a:rPr>
              <a:t>44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2395728"/>
            <a:ext cx="329184" cy="457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10896" y="2450592"/>
            <a:ext cx="292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D7F32"/>
                </a:solidFill>
              </a:rPr>
              <a:t>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2395728"/>
            <a:ext cx="3803904" cy="457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2450592"/>
            <a:ext cx="37673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</a:rPr>
              <a:t>Bárbara Ritter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480560" y="2395728"/>
            <a:ext cx="603503" cy="457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17136" y="2450592"/>
            <a:ext cx="5669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</a:rPr>
              <a:t>26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120640" y="2395728"/>
            <a:ext cx="649224" cy="457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57216" y="2450592"/>
            <a:ext cx="6126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</a:rPr>
              <a:t>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806440" y="2395728"/>
            <a:ext cx="512063" cy="457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843016" y="2450592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</a:rPr>
              <a:t>46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2898648"/>
            <a:ext cx="329184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10896" y="2953512"/>
            <a:ext cx="292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44444"/>
                </a:solidFill>
              </a:rPr>
              <a:t>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" y="2898648"/>
            <a:ext cx="3803904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76656" y="2953512"/>
            <a:ext cx="37673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</a:rPr>
              <a:t>Eliane Cristina dos Santos P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480560" y="2898648"/>
            <a:ext cx="603503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17136" y="2953512"/>
            <a:ext cx="5669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</a:rPr>
              <a:t>24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120640" y="2898648"/>
            <a:ext cx="649224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157216" y="2953512"/>
            <a:ext cx="6126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</a:rPr>
              <a:t>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806440" y="2898648"/>
            <a:ext cx="512063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843016" y="2953512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</a:rPr>
              <a:t>24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" y="3401568"/>
            <a:ext cx="329184" cy="457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10896" y="3456432"/>
            <a:ext cx="292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44444"/>
                </a:solidFill>
              </a:rPr>
              <a:t>5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40080" y="3401568"/>
            <a:ext cx="3803904" cy="457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76656" y="3456432"/>
            <a:ext cx="37673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</a:rPr>
              <a:t>Vilmara de Jesus Soares Sant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480560" y="3401568"/>
            <a:ext cx="603503" cy="457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517136" y="3456432"/>
            <a:ext cx="5669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</a:rPr>
              <a:t>6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120640" y="3401568"/>
            <a:ext cx="649224" cy="457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157216" y="3456432"/>
            <a:ext cx="6126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</a:rPr>
              <a:t>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06440" y="3401568"/>
            <a:ext cx="512063" cy="457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843016" y="3456432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</a:rPr>
              <a:t>6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74320" y="3904487"/>
            <a:ext cx="329184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10896" y="3959351"/>
            <a:ext cx="292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44444"/>
                </a:solidFill>
              </a:rPr>
              <a:t>6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40080" y="3904487"/>
            <a:ext cx="3803904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76656" y="3959351"/>
            <a:ext cx="37673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</a:rPr>
              <a:t>LIVIA CARVALHO SILVA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480560" y="3904487"/>
            <a:ext cx="603503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517136" y="3959351"/>
            <a:ext cx="5669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</a:rPr>
              <a:t>6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120640" y="3904487"/>
            <a:ext cx="649224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157216" y="3959351"/>
            <a:ext cx="6126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</a:rPr>
              <a:t>0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806440" y="3904487"/>
            <a:ext cx="512063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843016" y="3959351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</a:rPr>
              <a:t>6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74320" y="4407408"/>
            <a:ext cx="329184" cy="457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10896" y="4462272"/>
            <a:ext cx="292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44444"/>
                </a:solidFill>
              </a:rPr>
              <a:t>7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40080" y="4407408"/>
            <a:ext cx="3803904" cy="457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76656" y="4462272"/>
            <a:ext cx="37673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</a:rPr>
              <a:t>Éricka de Oliveira Tardelli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480560" y="4407408"/>
            <a:ext cx="603503" cy="457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517136" y="4462272"/>
            <a:ext cx="5669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</a:rPr>
              <a:t>5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120640" y="4407408"/>
            <a:ext cx="649224" cy="457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157216" y="4462272"/>
            <a:ext cx="6126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</a:rPr>
              <a:t>0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806440" y="4407408"/>
            <a:ext cx="512063" cy="457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843016" y="4462272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</a:rPr>
              <a:t>5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74320" y="4910328"/>
            <a:ext cx="329184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10896" y="4965192"/>
            <a:ext cx="292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44444"/>
                </a:solidFill>
              </a:rPr>
              <a:t>8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40080" y="4910328"/>
            <a:ext cx="3803904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76656" y="4965192"/>
            <a:ext cx="37673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</a:rPr>
              <a:t>Camila Silva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480560" y="4910328"/>
            <a:ext cx="603503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517136" y="4965192"/>
            <a:ext cx="5669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</a:rPr>
              <a:t>5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120640" y="4910328"/>
            <a:ext cx="649224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157216" y="4965192"/>
            <a:ext cx="6126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</a:rPr>
              <a:t>1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806440" y="4910328"/>
            <a:ext cx="512063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843016" y="4965192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</a:rPr>
              <a:t>15</a:t>
            </a:r>
          </a:p>
        </p:txBody>
      </p:sp>
      <p:sp>
        <p:nvSpPr>
          <p:cNvPr id="94" name="Rectangle 93"/>
          <p:cNvSpPr/>
          <p:nvPr/>
        </p:nvSpPr>
        <p:spPr>
          <a:xfrm>
            <a:off x="274320" y="5413248"/>
            <a:ext cx="329184" cy="457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10896" y="5468112"/>
            <a:ext cx="292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44444"/>
                </a:solidFill>
              </a:rPr>
              <a:t>9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40080" y="5413248"/>
            <a:ext cx="3803904" cy="457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76656" y="5468112"/>
            <a:ext cx="37673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</a:rPr>
              <a:t>Alcione Ribeiro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480560" y="5413248"/>
            <a:ext cx="603503" cy="457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517136" y="5468112"/>
            <a:ext cx="5669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</a:rPr>
              <a:t>4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5120640" y="5413248"/>
            <a:ext cx="649224" cy="457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5157216" y="5468112"/>
            <a:ext cx="6126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</a:rPr>
              <a:t>1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5806440" y="5413248"/>
            <a:ext cx="512063" cy="457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843016" y="5468112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</a:rPr>
              <a:t>14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400800" y="10058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1B3E"/>
                </a:solidFill>
              </a:rPr>
              <a:t>CONCLUSÃO ESTRATÉGICA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400800" y="15087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1B3E"/>
                </a:solidFill>
              </a:rPr>
              <a:t>Base qualificada: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400800" y="177393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</a:rPr>
              <a:t>Os embaixadores indicaram pessoas com real potencial — o produto encaixa no perfil.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400800" y="2221991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1B3E"/>
                </a:solidFill>
              </a:rPr>
              <a:t>Gargalo em processo: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400800" y="248716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</a:rPr>
              <a:t>O gap de conversão está na travessia Resposta → Apresentação, não na qualidade dos leads.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400800" y="293522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1B3E"/>
                </a:solidFill>
              </a:rPr>
              <a:t>Taxa pós-reunião sólida: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400800" y="3200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</a:rPr>
              <a:t>41.7% de conversão reunião → venda é um bom indicador — o problema é chegar à reunião.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400800" y="364845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1B3E"/>
                </a:solidFill>
              </a:rPr>
              <a:t>Potencial em junho: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400800" y="391363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</a:rPr>
              <a:t>7 reuniões agendadas + 12 com reunião feita = até 10 novas vendas possíveis com ação focada.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274320" y="6080760"/>
            <a:ext cx="11640312" cy="640080"/>
          </a:xfrm>
          <a:prstGeom prst="rect">
            <a:avLst/>
          </a:prstGeom>
          <a:solidFill>
            <a:srgbClr val="10B981"/>
          </a:solidFill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Potencial ativo no funil: 164 leads  ·  5 vendas fechadas  ·  Meta junho: ampliar conversão com ação nos estágios-chave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